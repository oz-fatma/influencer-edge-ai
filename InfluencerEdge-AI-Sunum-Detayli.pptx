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InfluencerEdge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CCCDD"/>
                </a:solidFill>
              </a:defRPr>
            </a:pPr>
            <a:r>
              <a:t>AI Destekli Influencer–Ajans Eşleştirme Platformu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00B4D8"/>
                </a:solidFill>
              </a:defRPr>
            </a:pPr>
            <a:r>
              <a:t>MasterFabric Academy · Agentic AI Developer Training</a:t>
            </a:r>
          </a:p>
          <a:p>
            <a:pPr>
              <a:spcAft>
                <a:spcPts val="400"/>
              </a:spcAft>
              <a:defRPr sz="1600">
                <a:solidFill>
                  <a:srgbClr val="00B4D8"/>
                </a:solidFill>
              </a:defRPr>
            </a:pPr>
            <a:r>
              <a:t>Hybrid LLM · MCP Adapter · Reverse Proxy Mimarisi</a:t>
            </a:r>
          </a:p>
          <a:p>
            <a:pPr>
              <a:spcAft>
                <a:spcPts val="400"/>
              </a:spcAft>
              <a:defRPr sz="1600">
                <a:solidFill>
                  <a:srgbClr val="00B4D8"/>
                </a:solidFill>
              </a:defRPr>
            </a:pPr>
            <a:r>
              <a:t>influencer-edge-ai.vercel.app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1A2E"/>
                </a:solidFill>
              </a:defRPr>
            </a:pPr>
            <a:r>
              <a:t>Problem ve Çözüm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201168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• Problem — Ajansların karşılaştığı zorluklar</a:t>
            </a:r>
          </a:p>
          <a:p>
            <a:pPr lvl="1">
              <a:spcAft>
                <a:spcPts val="600"/>
              </a:spcAft>
              <a:defRPr sz="1600">
                <a:solidFill>
                  <a:srgbClr val="555555"/>
                </a:solidFill>
              </a:defRPr>
            </a:pPr>
            <a:r>
              <a:t>  ◦ Yüzlerce influencer adayı arasından doğru kişiyi seçmek zaman alıcı</a:t>
            </a:r>
          </a:p>
          <a:p>
            <a:pPr lvl="1">
              <a:spcAft>
                <a:spcPts val="600"/>
              </a:spcAft>
              <a:defRPr sz="1600">
                <a:solidFill>
                  <a:srgbClr val="555555"/>
                </a:solidFill>
              </a:defRPr>
            </a:pPr>
            <a:r>
              <a:t>  ◦ Manuel puanlama tutarsız; kampanya uyumu (brand fit) subjektif</a:t>
            </a:r>
          </a:p>
          <a:p>
            <a:pPr lvl="1">
              <a:spcAft>
                <a:spcPts val="600"/>
              </a:spcAft>
              <a:defRPr sz="1600">
                <a:solidFill>
                  <a:srgbClr val="555555"/>
                </a:solidFill>
              </a:defRPr>
            </a:pPr>
            <a:r>
              <a:t>  ◦ LLM maliyeti ve gizlilik: model nerede çalışmalı?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• Çözüm — InfluencerEdge AI</a:t>
            </a:r>
          </a:p>
          <a:p>
            <a:pPr lvl="1">
              <a:spcAft>
                <a:spcPts val="600"/>
              </a:spcAft>
              <a:defRPr sz="1600">
                <a:solidFill>
                  <a:srgbClr val="555555"/>
                </a:solidFill>
              </a:defRPr>
            </a:pPr>
            <a:r>
              <a:t>  ◦ Influencer havuzu + 4 boyutlu skorlama (0–100)</a:t>
            </a:r>
          </a:p>
          <a:p>
            <a:pPr lvl="1">
              <a:spcAft>
                <a:spcPts val="600"/>
              </a:spcAft>
              <a:defRPr sz="1600">
                <a:solidFill>
                  <a:srgbClr val="555555"/>
                </a:solidFill>
              </a:defRPr>
            </a:pPr>
            <a:r>
              <a:t>  ◦ AI Analyze: score + summary + insights</a:t>
            </a:r>
          </a:p>
          <a:p>
            <a:pPr lvl="1">
              <a:spcAft>
                <a:spcPts val="600"/>
              </a:spcAft>
              <a:defRPr sz="1600">
                <a:solidFill>
                  <a:srgbClr val="555555"/>
                </a:solidFill>
              </a:defRPr>
            </a:pPr>
            <a:r>
              <a:t>  ◦ Hybrid mimari: sunucu Ollama + tarayıcı WebLLM fallback</a:t>
            </a:r>
          </a:p>
          <a:p>
            <a:pPr lvl="1">
              <a:spcAft>
                <a:spcPts val="600"/>
              </a:spcAft>
              <a:defRPr sz="1600">
                <a:solidFill>
                  <a:srgbClr val="555555"/>
                </a:solidFill>
              </a:defRPr>
            </a:pPr>
            <a:r>
              <a:t>  ◦ MCP adapter ile standart, genişletilebilir LLM sözleşmesi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1A2E"/>
                </a:solidFill>
              </a:defRPr>
            </a:pPr>
            <a:r>
              <a:t>Teknoloji Yığını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201168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25880"/>
          <a:ext cx="111556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62865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Katman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Teknoloji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Görev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2E"/>
                          </a:solidFill>
                        </a:defRPr>
                      </a:pPr>
                      <a:r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2E"/>
                          </a:solidFill>
                        </a:defRPr>
                      </a:pPr>
                      <a:r>
                        <a:t>Next.js 16, React 19, Tailwind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2E"/>
                          </a:solidFill>
                        </a:defRPr>
                      </a:pPr>
                      <a:r>
                        <a:t>UI, auth, WebLLM fallback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2E"/>
                          </a:solidFill>
                        </a:defRPr>
                      </a:pPr>
                      <a:r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2E"/>
                          </a:solidFill>
                        </a:defRPr>
                      </a:pPr>
                      <a:r>
                        <a:t>Go, Chi, JWT, pgx, Redis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2E"/>
                          </a:solidFill>
                        </a:defRPr>
                      </a:pPr>
                      <a:r>
                        <a:t>API, LLM proxy, MCP adapter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2E"/>
                          </a:solidFill>
                        </a:defRPr>
                      </a:pPr>
                      <a:r>
                        <a:t>LLM (sunucu)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2E"/>
                          </a:solidFill>
                        </a:defRPr>
                      </a:pPr>
                      <a:r>
                        <a:t>Ollama + Gemma 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2E"/>
                          </a:solidFill>
                        </a:defRPr>
                      </a:pPr>
                      <a:r>
                        <a:t>Mac Docker'da inference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2E"/>
                          </a:solidFill>
                        </a:defRPr>
                      </a:pPr>
                      <a:r>
                        <a:t>LLM (tarayıcı)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2E"/>
                          </a:solidFill>
                        </a:defRPr>
                      </a:pPr>
                      <a:r>
                        <a:t>@mlc-ai/web-llm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2E"/>
                          </a:solidFill>
                        </a:defRPr>
                      </a:pPr>
                      <a:r>
                        <a:t>Fallback — model tarayıcıda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2E"/>
                          </a:solidFill>
                        </a:defRPr>
                      </a:pPr>
                      <a:r>
                        <a:t>Proxy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2E"/>
                          </a:solidFill>
                        </a:defRPr>
                      </a:pPr>
                      <a:r>
                        <a:t>Caddy + Cloudflare 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2E"/>
                          </a:solidFill>
                        </a:defRPr>
                      </a:pPr>
                      <a:r>
                        <a:t>Instructor reverse proxy katmanı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2E"/>
                          </a:solidFill>
                        </a:defRPr>
                      </a:pPr>
                      <a:r>
                        <a:t>Veritabanı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2E"/>
                          </a:solidFill>
                        </a:defRPr>
                      </a:pPr>
                      <a:r>
                        <a:t>PostgreSQL + Redis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2E"/>
                          </a:solidFill>
                        </a:defRPr>
                      </a:pPr>
                      <a:r>
                        <a:t>Skorlar, analizler, LLM metrikleri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2E"/>
                          </a:solidFill>
                        </a:defRPr>
                      </a:pPr>
                      <a:r>
                        <a:t>Deploy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2E"/>
                          </a:solidFill>
                        </a:defRPr>
                      </a:pPr>
                      <a:r>
                        <a:t>Vercel + Render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2E"/>
                          </a:solidFill>
                        </a:defRPr>
                      </a:pPr>
                      <a:r>
                        <a:t>Frontend + API production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1A2E"/>
                </a:solidFill>
              </a:defRPr>
            </a:pPr>
            <a:r>
              <a:t>Mimari — Veri Akışı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201168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6583680" cy="5029200"/>
          </a:xfrm>
          <a:prstGeom prst="roundRect">
            <a:avLst/>
          </a:prstGeom>
          <a:solidFill>
            <a:srgbClr val="EEEEF4"/>
          </a:solidFill>
          <a:ln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6309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urier New"/>
              </a:defRPr>
            </a:pPr>
            <a:r>
              <a:t>[Kullanıcı Tarayıcısı]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urier New"/>
              </a:defRPr>
            </a:pPr>
            <a:r>
              <a:t>        │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urier New"/>
              </a:defRPr>
            </a:pPr>
            <a:r>
              <a:t>        ▼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urier New"/>
              </a:defRPr>
            </a:pPr>
            <a:r>
              <a:t>[Vercel]  Next.js Frontend  (:3000 prod)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urier New"/>
              </a:defRPr>
            </a:pPr>
            <a:r>
              <a:t>        │  NEXT_PUBLIC_API_URL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urier New"/>
              </a:defRPr>
            </a:pPr>
            <a:r>
              <a:t>        ▼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urier New"/>
              </a:defRPr>
            </a:pPr>
            <a:r>
              <a:t>[Render]  mf-go API  +  PostgreSQL  +  Redis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urier New"/>
              </a:defRPr>
            </a:pPr>
            <a:r>
              <a:t>        │  POST /api/v1/mcp/request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urier New"/>
              </a:defRPr>
            </a:pPr>
            <a:r>
              <a:t>        │  LLM_BASE_URL env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urier New"/>
              </a:defRPr>
            </a:pPr>
            <a:r>
              <a:t>        ▼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urier New"/>
              </a:defRPr>
            </a:pPr>
            <a:r>
              <a:t>[Cloudflare Tunnel]  https://xxx.trycloudflare.com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urier New"/>
              </a:defRPr>
            </a:pPr>
            <a:r>
              <a:t>        ▼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urier New"/>
              </a:defRPr>
            </a:pPr>
            <a:r>
              <a:t>[Mac Docker]  Caddy :8080  →  Ollama :11434  (gemma2:2b)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urier New"/>
              </a:defRPr>
            </a:pPr>
            <a:r>
              <a:t>        │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urier New"/>
              </a:defRPr>
            </a:pPr>
            <a:r>
              <a:t>        └── Fallback: WebLLM (tarayıcı, HuggingFace CDN)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280160"/>
            <a:ext cx="4343400" cy="2011680"/>
          </a:xfrm>
          <a:prstGeom prst="roundRect">
            <a:avLst/>
          </a:prstGeom>
          <a:solidFill>
            <a:srgbClr val="FFF8E1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1417319"/>
            <a:ext cx="3977639" cy="1783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7A5C00"/>
                </a:solidFill>
              </a:defRPr>
            </a:pPr>
            <a:r>
              <a:t>Instructor Mimarisi</a:t>
            </a:r>
          </a:p>
          <a:p>
            <a:pPr>
              <a:spcBef>
                <a:spcPts val="600"/>
              </a:spcBef>
              <a:defRPr sz="1500">
                <a:solidFill>
                  <a:srgbClr val="555555"/>
                </a:solidFill>
              </a:defRPr>
            </a:pPr>
            <a:r>
              <a:t>API bulutta (Render), ağır model kendi makinede (Docker).</a:t>
            </a:r>
            <a:br/>
            <a:r>
              <a:t>Trafik Render üzerinden akar — frontend doğrudan Mac'e erişmez.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3520440"/>
            <a:ext cx="4343400" cy="2011680"/>
          </a:xfrm>
          <a:prstGeom prst="roundRect">
            <a:avLst/>
          </a:prstGeom>
          <a:solidFill>
            <a:srgbClr val="FFF8E1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3657600"/>
            <a:ext cx="3977639" cy="1783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7A5C00"/>
                </a:solidFill>
              </a:defRPr>
            </a:pPr>
            <a:r>
              <a:t>Neden Caddy?</a:t>
            </a:r>
          </a:p>
          <a:p>
            <a:pPr>
              <a:spcBef>
                <a:spcPts val="600"/>
              </a:spcBef>
              <a:defRPr sz="1500">
                <a:solidFill>
                  <a:srgbClr val="555555"/>
                </a:solidFill>
              </a:defRPr>
            </a:pPr>
            <a:r>
              <a:t>Tunnel doğrudan Ollama'ya da gidebilir.</a:t>
            </a:r>
            <a:br/>
            <a:r>
              <a:t>Caddy somut reverse proxy katmanı — sunumda X-Reverse-Proxy: Caddy header ile kanıtlanır.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1A2E"/>
                </a:solidFill>
              </a:defRPr>
            </a:pPr>
            <a:r>
              <a:t>Analyze Akışı — Adım Adım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201168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325880"/>
            <a:ext cx="411480" cy="41148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3716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344168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A1A2E"/>
                </a:solidFill>
              </a:defRPr>
            </a:pPr>
            <a:r>
              <a:t>Kullanıcı Matching sayfasında influencer seçer → Analyze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03120"/>
            <a:ext cx="411480" cy="41148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14883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21408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A1A2E"/>
                </a:solidFill>
              </a:defRPr>
            </a:pPr>
            <a:r>
              <a:t>Frontend: sendMCPRequest() → POST /api/v1/mcp/request + JWT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880360"/>
            <a:ext cx="411480" cy="41148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92607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898648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A1A2E"/>
                </a:solidFill>
              </a:defRPr>
            </a:pPr>
            <a:r>
              <a:t>mf-go MCP Service: request_type=analyze_influencer doğrular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370332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675887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A1A2E"/>
                </a:solidFill>
              </a:defRPr>
            </a:pPr>
            <a:r>
              <a:t>llm.Analyzer → Ollama /v1/chat/completions (prompt + few-shot)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4434840"/>
            <a:ext cx="411480" cy="41148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448055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453127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A1A2E"/>
                </a:solidFill>
              </a:defRPr>
            </a:pPr>
            <a:r>
              <a:t>Tunnel → Caddy → Ollama → JSON skor + summary + insights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5212080"/>
            <a:ext cx="411480" cy="41148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52578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230368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A1A2E"/>
                </a:solidFill>
              </a:defRPr>
            </a:pPr>
            <a:r>
              <a:t>RichResult döner → skorlar + analiz Postgres'e kaydedilir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989320"/>
            <a:ext cx="11155680" cy="685800"/>
          </a:xfrm>
          <a:prstGeom prst="roundRect">
            <a:avLst/>
          </a:prstGeom>
          <a:solidFill>
            <a:srgbClr val="E8F5E9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6126480"/>
            <a:ext cx="1078991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2E7D32"/>
                </a:solidFill>
              </a:defRPr>
            </a:pPr>
            <a:r>
              <a:t>Hybrid Fallback</a:t>
            </a:r>
          </a:p>
          <a:p>
            <a:pPr>
              <a:spcBef>
                <a:spcPts val="600"/>
              </a:spcBef>
              <a:defRPr sz="1500">
                <a:solidFill>
                  <a:srgbClr val="555555"/>
                </a:solidFill>
              </a:defRPr>
            </a:pPr>
            <a:r>
              <a:t>502 / 503 / 524 / timeout → WebLLM tarayıcıda devreye girer.</a:t>
            </a:r>
            <a:br/>
            <a:r>
              <a:t>Kullanıcı yine sonuç alır. analysis_type: ollama veya web-llm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1A2E"/>
                </a:solidFill>
              </a:defRPr>
            </a:pPr>
            <a:r>
              <a:t>Analyze Çıktıları: Score · Summary ·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201168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</a:defRPr>
            </a:pPr>
            <a:r>
              <a:t>• Score (Skor) — 0–100 arası sayısal puanlar</a:t>
            </a:r>
          </a:p>
          <a:p>
            <a:pPr lvl="1"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◦ Overall: Genel uygunluk (diğerlerinin özeti)</a:t>
            </a:r>
          </a:p>
          <a:p>
            <a:pPr lvl="1"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◦ Engagement: Etkileşim oranı (beğeni, yorum, paylaşım)</a:t>
            </a:r>
          </a:p>
          <a:p>
            <a:pPr lvl="1"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◦ Audience: Takipçi kitlesi hedef demografiyle ne kadar örtüşüyor</a:t>
            </a:r>
          </a:p>
          <a:p>
            <a:pPr lvl="1"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◦ Brand Fit: Marka / kampanya değerleriyle uyum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</a:defRPr>
            </a:pPr>
            <a:r>
              <a:t>• Summary (Özet) — 1–2 cümlelik metin hüküm</a:t>
            </a:r>
          </a:p>
          <a:p>
            <a:pPr lvl="1"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◦ Örn: "Güçlü etkileşim ve kitle uyumu. Kozmetik kampanyaları için uygun profil."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</a:defRPr>
            </a:pPr>
            <a:r>
              <a:t>• Insights (İçgörüler) — madde madde somut gerekçeler</a:t>
            </a:r>
          </a:p>
          <a:p>
            <a:pPr lvl="1"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◦ Örn: "Son 30 günde %4.1 etkileşim", "Takipçilerin %65'i hedef demografiye uyuyor"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371600"/>
            <a:ext cx="3931920" cy="3474720"/>
          </a:xfrm>
          <a:prstGeom prst="roundRect">
            <a:avLst/>
          </a:prstGeom>
          <a:solidFill>
            <a:srgbClr val="EEEEF4"/>
          </a:solidFill>
          <a:ln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09560" y="1481328"/>
            <a:ext cx="365760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1A1A2E"/>
                </a:solidFill>
                <a:latin typeface="Courier New"/>
              </a:defRPr>
            </a:pPr>
            <a:r>
              <a:t>{"overall_score":82.5, "engagement_score":88,</a:t>
            </a:r>
          </a:p>
          <a:p>
            <a:pPr>
              <a:spcAft>
                <a:spcPts val="200"/>
              </a:spcAft>
              <a:defRPr sz="1200">
                <a:solidFill>
                  <a:srgbClr val="1A1A2E"/>
                </a:solidFill>
                <a:latin typeface="Courier New"/>
              </a:defRPr>
            </a:pPr>
            <a:r>
              <a:t> "audience_score":79, "brand_fit_score":80,</a:t>
            </a:r>
          </a:p>
          <a:p>
            <a:pPr>
              <a:spcAft>
                <a:spcPts val="200"/>
              </a:spcAft>
              <a:defRPr sz="1200">
                <a:solidFill>
                  <a:srgbClr val="1A1A2E"/>
                </a:solidFill>
                <a:latin typeface="Courier New"/>
              </a:defRPr>
            </a:pPr>
            <a:r>
              <a:t> "summary":"Strong engagement...",</a:t>
            </a:r>
          </a:p>
          <a:p>
            <a:pPr>
              <a:spcAft>
                <a:spcPts val="200"/>
              </a:spcAft>
              <a:defRPr sz="1200">
                <a:solidFill>
                  <a:srgbClr val="1A1A2E"/>
                </a:solidFill>
                <a:latin typeface="Courier New"/>
              </a:defRPr>
            </a:pPr>
            <a:r>
              <a:t> "insights":["4.1% engagement","65% demographic match"]}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1A2E"/>
                </a:solidFill>
              </a:defRPr>
            </a:pPr>
            <a:r>
              <a:t>MCP (Model Context Protocol) Adapter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201168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MCP nedir? — Standart istek/cevap zarfı (envelope) formatı</a:t>
            </a:r>
          </a:p>
          <a:p>
            <a:pPr lvl="1"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  ◦ Cursor IDE MCP (.cursor/mcp.json) ≠ Uygulama MCP adapter'ı</a:t>
            </a:r>
          </a:p>
          <a:p>
            <a:pPr lvl="1"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  ◦ Uygulama MCP: mf-go + frontend/lib/mcp.ts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Endpoint: POST /api/v1/mcp/request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İstek yapısı:</a:t>
            </a:r>
          </a:p>
          <a:p>
            <a:pPr lvl="1"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  ◦ request_type: analyze_influencer</a:t>
            </a:r>
          </a:p>
          <a:p>
            <a:pPr lvl="1"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  ◦ context: { influencer_name, platform, notes }</a:t>
            </a:r>
          </a:p>
          <a:p>
            <a:pPr lvl="1"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  ◦ query: Assess brand-fit and engagement potential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• Cevap — RichResult:</a:t>
            </a:r>
          </a:p>
          <a:p>
            <a:pPr lvl="1"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  ◦ data: skorlar + summary + insights + raw_output</a:t>
            </a:r>
          </a:p>
          <a:p>
            <a:pPr lvl="1"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  ◦ metadata: model, latency_ms, timestamp, request_type</a:t>
            </a:r>
          </a:p>
          <a:p>
            <a:pPr lvl="1"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  ◦ source: mcp-ollama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1A2E"/>
                </a:solidFill>
              </a:defRPr>
            </a:pPr>
            <a:r>
              <a:t>MCP'li vs MCP'siz (Legacy)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201168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5394960" cy="5120640"/>
          </a:xfrm>
          <a:prstGeom prst="roundRect">
            <a:avLst/>
          </a:prstGeom>
          <a:solidFill>
            <a:srgbClr val="EEEEF4"/>
          </a:solidFill>
          <a:ln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5120640" cy="4937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urier New"/>
              </a:defRPr>
            </a:pPr>
            <a:r>
              <a:t>LEGACY — /api/v1/llm/analyze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urier New"/>
              </a:defRPr>
            </a:pPr>
            <a:r>
              <a:t>İstek: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urier New"/>
              </a:defRPr>
            </a:pPr>
            <a:r>
              <a:t>{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urier New"/>
              </a:defRPr>
            </a:pPr>
            <a:r>
              <a:t>  "influencer_name": "Ada",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urier New"/>
              </a:defRPr>
            </a:pPr>
            <a:r>
              <a:t>  "platform": "instagram",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urier New"/>
              </a:defRPr>
            </a:pPr>
            <a:r>
              <a:t>  "notes": "Tech niche"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urier New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urier New"/>
              </a:defRPr>
            </a:pPr>
            <a:r>
              <a:t>Cevap: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urier New"/>
              </a:defRPr>
            </a:pPr>
            <a:r>
              <a:t>{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urier New"/>
              </a:defRPr>
            </a:pPr>
            <a:r>
              <a:t>  "result": { scores... },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urier New"/>
              </a:defRPr>
            </a:pPr>
            <a:r>
              <a:t>  "raw_output": "..."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urier New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urier New"/>
              </a:defRPr>
            </a:pPr>
            <a:r>
              <a:t>• Düz JSON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urier New"/>
              </a:defRPr>
            </a:pPr>
            <a:r>
              <a:t>• Minimal metadata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urier New"/>
              </a:defRPr>
            </a:pPr>
            <a:r>
              <a:t>• Hâlâ çalışır (handler.go)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280160"/>
            <a:ext cx="5394960" cy="5120640"/>
          </a:xfrm>
          <a:prstGeom prst="roundRect">
            <a:avLst/>
          </a:prstGeom>
          <a:solidFill>
            <a:srgbClr val="EEEEF4"/>
          </a:solidFill>
          <a:ln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89888"/>
            <a:ext cx="5120640" cy="4937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urier New"/>
              </a:defRPr>
            </a:pPr>
            <a:r>
              <a:t>MCP — /api/v1/mcp/request  ✅ Aktif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urier New"/>
              </a:defRPr>
            </a:pPr>
            <a:r>
              <a:t>İstek: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urier New"/>
              </a:defRPr>
            </a:pPr>
            <a:r>
              <a:t>{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urier New"/>
              </a:defRPr>
            </a:pPr>
            <a:r>
              <a:t>  "request_type": "analyze_influencer",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urier New"/>
              </a:defRPr>
            </a:pPr>
            <a:r>
              <a:t>  "context": { name, platform, notes },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urier New"/>
              </a:defRPr>
            </a:pPr>
            <a:r>
              <a:t>  "query": "Assess brand-fit..."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urier New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urier New"/>
              </a:defRPr>
            </a:pPr>
            <a:r>
              <a:t>Cevap: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urier New"/>
              </a:defRPr>
            </a:pPr>
            <a:r>
              <a:t>{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urier New"/>
              </a:defRPr>
            </a:pPr>
            <a:r>
              <a:t>  "data": { scores, summary... },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urier New"/>
              </a:defRPr>
            </a:pPr>
            <a:r>
              <a:t>  "metadata": { model, latency_ms },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urier New"/>
              </a:defRPr>
            </a:pPr>
            <a:r>
              <a:t>  "source": "mcp-ollama"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urier New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urier New"/>
              </a:defRPr>
            </a:pPr>
            <a:r>
              <a:t>• Zarf formatı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urier New"/>
              </a:defRPr>
            </a:pPr>
            <a:r>
              <a:t>• Monitoring metadata hazır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urier New"/>
              </a:defRPr>
            </a:pPr>
            <a:r>
              <a:t>• Yeni request_type eklenebilir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ourier New"/>
              </a:defRPr>
            </a:pPr>
            <a:r>
              <a:t>• Matching sayfası bunu kullanıyor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989320"/>
            <a:ext cx="11155680" cy="685800"/>
          </a:xfrm>
          <a:prstGeom prst="roundRect">
            <a:avLst/>
          </a:prstGeom>
          <a:solidFill>
            <a:srgbClr val="E3F2FD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126480"/>
            <a:ext cx="1078991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565C0"/>
                </a:solidFill>
              </a:defRPr>
            </a:pPr>
            <a:r>
              <a:t>Ortak nokta</a:t>
            </a:r>
          </a:p>
          <a:p>
            <a:pPr>
              <a:spcBef>
                <a:spcPts val="600"/>
              </a:spcBef>
              <a:defRPr sz="1500">
                <a:solidFill>
                  <a:srgbClr val="555555"/>
                </a:solidFill>
              </a:defRPr>
            </a:pPr>
            <a:r>
              <a:t>Her iki endpoint de aynı llm.Analyzer motorunu kullanır.</a:t>
            </a:r>
            <a:br/>
            <a:r>
              <a:t>Fark sadece API sözleşmesi ve cevap zenginliği.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1A2E"/>
                </a:solidFill>
              </a:defRPr>
            </a:pPr>
            <a:r>
              <a:t>Fine-Tune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201168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• Fine-tune eğitim kodu repoda yok — dışarıda yapıldı (Academy / Colab)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• Repoda olan: Ollama paketleme</a:t>
            </a:r>
          </a:p>
          <a:p>
            <a:pPr lvl="1">
              <a:spcAft>
                <a:spcPts val="600"/>
              </a:spcAft>
              <a:defRPr sz="1600">
                <a:solidFill>
                  <a:srgbClr val="555555"/>
                </a:solidFill>
              </a:defRPr>
            </a:pPr>
            <a:r>
              <a:t>  ◦ llm-service/finetuned/Modelfile → gemma-influencer.gguf</a:t>
            </a:r>
          </a:p>
          <a:p>
            <a:pPr lvl="1">
              <a:spcAft>
                <a:spcPts val="600"/>
              </a:spcAft>
              <a:defRPr sz="1600">
                <a:solidFill>
                  <a:srgbClr val="555555"/>
                </a:solidFill>
              </a:defRPr>
            </a:pPr>
            <a:r>
              <a:t>  ◦ .gitignore: *.gguf (model ağırlığı repoda değil)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• Modelfile ayarları:</a:t>
            </a:r>
          </a:p>
          <a:p>
            <a:pPr lvl="1">
              <a:spcAft>
                <a:spcPts val="600"/>
              </a:spcAft>
              <a:defRPr sz="1600">
                <a:solidFill>
                  <a:srgbClr val="555555"/>
                </a:solidFill>
              </a:defRPr>
            </a:pPr>
            <a:r>
              <a:t>  ◦ Influencer analizi prompt şablonu</a:t>
            </a:r>
          </a:p>
          <a:p>
            <a:pPr lvl="1">
              <a:spcAft>
                <a:spcPts val="600"/>
              </a:spcAft>
              <a:defRPr sz="1600">
                <a:solidFill>
                  <a:srgbClr val="555555"/>
                </a:solidFill>
              </a:defRPr>
            </a:pPr>
            <a:r>
              <a:t>  ◦ temperature 0.2, num_predict 80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• Model adları:</a:t>
            </a:r>
          </a:p>
          <a:p>
            <a:pPr lvl="1">
              <a:spcAft>
                <a:spcPts val="600"/>
              </a:spcAft>
              <a:defRPr sz="1600">
                <a:solidFill>
                  <a:srgbClr val="555555"/>
                </a:solidFill>
              </a:defRPr>
            </a:pPr>
            <a:r>
              <a:t>  ◦ Base: gemma2:2b (ollama pull gemma2:2b)</a:t>
            </a:r>
          </a:p>
          <a:p>
            <a:pPr lvl="1">
              <a:spcAft>
                <a:spcPts val="600"/>
              </a:spcAft>
              <a:defRPr sz="1600">
                <a:solidFill>
                  <a:srgbClr val="555555"/>
                </a:solidFill>
              </a:defRPr>
            </a:pPr>
            <a:r>
              <a:t>  ◦ Fine-tune: gemma-influencer-ft (ollama create -f Modelfile)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• Env: LLM_MODEL=gemma-influencer-ft, MCP_MODEL=gemma-influencer-ft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1A2E"/>
                </a:solidFill>
              </a:defRPr>
            </a:pPr>
            <a:r>
              <a:t>Canlı Demo — Kurulum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201168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• Terminal 1 — Ollama:</a:t>
            </a:r>
          </a:p>
          <a:p>
            <a:pPr lvl="1">
              <a:spcAft>
                <a:spcPts val="600"/>
              </a:spcAft>
              <a:defRPr sz="1600">
                <a:solidFill>
                  <a:srgbClr val="555555"/>
                </a:solidFill>
              </a:defRPr>
            </a:pPr>
            <a:r>
              <a:t>  ◦ cd llm-service &amp;&amp; docker compose up -d</a:t>
            </a:r>
          </a:p>
          <a:p>
            <a:pPr lvl="1">
              <a:spcAft>
                <a:spcPts val="600"/>
              </a:spcAft>
              <a:defRPr sz="1600">
                <a:solidFill>
                  <a:srgbClr val="555555"/>
                </a:solidFill>
              </a:defRPr>
            </a:pPr>
            <a:r>
              <a:t>  ◦ docker exec -it ollama ollama pull gemma2:2b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• Terminal 2 — Caddy reverse proxy:</a:t>
            </a:r>
          </a:p>
          <a:p>
            <a:pPr lvl="1">
              <a:spcAft>
                <a:spcPts val="600"/>
              </a:spcAft>
              <a:defRPr sz="1600">
                <a:solidFill>
                  <a:srgbClr val="555555"/>
                </a:solidFill>
              </a:defRPr>
            </a:pPr>
            <a:r>
              <a:t>  ◦ docker compose -f docker-compose.proxy.yml up -d</a:t>
            </a:r>
          </a:p>
          <a:p>
            <a:pPr lvl="1">
              <a:spcAft>
                <a:spcPts val="600"/>
              </a:spcAft>
              <a:defRPr sz="1600">
                <a:solidFill>
                  <a:srgbClr val="555555"/>
                </a:solidFill>
              </a:defRPr>
            </a:pPr>
            <a:r>
              <a:t>  ◦ curl -I http://localhost:8080/v1/models  → X-Reverse-Proxy: Caddy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• Terminal 3 — Cloudflare Tunnel:</a:t>
            </a:r>
          </a:p>
          <a:p>
            <a:pPr lvl="1">
              <a:spcAft>
                <a:spcPts val="600"/>
              </a:spcAft>
              <a:defRPr sz="1600">
                <a:solidFill>
                  <a:srgbClr val="555555"/>
                </a:solidFill>
              </a:defRPr>
            </a:pPr>
            <a:r>
              <a:t>  ◦ cloudflared tunnel --url http://127.0.0.1:8080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• Render env: LLM_BASE_URL=&lt;tunnel URL&gt;, LLM_TIMEOUT_SECONDS=300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• Demo: Vercel → Login → Matching → Analyze → skor + summary + insights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1A2E"/>
                </a:solidFill>
              </a:defRPr>
            </a:pPr>
            <a:r>
              <a:t>Monitoring ve Observability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201168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• Uygulama Monitoring sayfası (/monitoring):</a:t>
            </a:r>
          </a:p>
          <a:p>
            <a:pPr lvl="1">
              <a:spcAft>
                <a:spcPts val="600"/>
              </a:spcAft>
              <a:defRPr sz="1600">
                <a:solidFill>
                  <a:srgbClr val="555555"/>
                </a:solidFill>
              </a:defRPr>
            </a:pPr>
            <a:r>
              <a:t>  ◦ LLM çağrı latency, hata oranı, model adı — Redis'te</a:t>
            </a:r>
          </a:p>
          <a:p>
            <a:pPr lvl="1">
              <a:spcAft>
                <a:spcPts val="600"/>
              </a:spcAft>
              <a:defRPr sz="1600">
                <a:solidFill>
                  <a:srgbClr val="555555"/>
                </a:solidFill>
              </a:defRPr>
            </a:pPr>
            <a:r>
              <a:t>  ◦ POST /api/v1/llm-metrics ile kayıt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• mf-go Prometheus: GET /metrics (OpenTelemetry)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• Grafana (lokal dev): Docker :3001</a:t>
            </a:r>
          </a:p>
          <a:p>
            <a:pPr lvl="1">
              <a:spcAft>
                <a:spcPts val="600"/>
              </a:spcAft>
              <a:defRPr sz="1600">
                <a:solidFill>
                  <a:srgbClr val="555555"/>
                </a:solidFill>
              </a:defRPr>
            </a:pPr>
            <a:r>
              <a:t>  ◦ Postgres request_logs datasource</a:t>
            </a:r>
          </a:p>
          <a:p>
            <a:pPr lvl="1">
              <a:spcAft>
                <a:spcPts val="600"/>
              </a:spcAft>
              <a:defRPr sz="1600">
                <a:solidFill>
                  <a:srgbClr val="555555"/>
                </a:solidFill>
              </a:defRPr>
            </a:pPr>
            <a:r>
              <a:t>  ◦ Production akışına karışmaz — sadece lokal gözlem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• MCP metadata: latency_ms, timestamp, model — her analyze cevabında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Özet ve Sorular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515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B4D8"/>
                </a:solidFill>
              </a:defRPr>
            </a:pPr>
            <a:r>
              <a:t>→  Hybrid AI: Render Ollama proxy + WebLLM fallback</a:t>
            </a:r>
          </a:p>
          <a:p>
            <a:pPr>
              <a:spcAft>
                <a:spcPts val="1000"/>
              </a:spcAft>
              <a:defRPr sz="2000">
                <a:solidFill>
                  <a:srgbClr val="00B4D8"/>
                </a:solidFill>
              </a:defRPr>
            </a:pPr>
            <a:r>
              <a:t>→  MCP adapter: standart, genişletilebilir LLM sözleşmesi</a:t>
            </a:r>
          </a:p>
          <a:p>
            <a:pPr>
              <a:spcAft>
                <a:spcPts val="1000"/>
              </a:spcAft>
              <a:defRPr sz="2000">
                <a:solidFill>
                  <a:srgbClr val="00B4D8"/>
                </a:solidFill>
              </a:defRPr>
            </a:pPr>
            <a:r>
              <a:t>→  Reverse proxy zinciri: mf-go → Tunnel → Caddy → Ollama</a:t>
            </a:r>
          </a:p>
          <a:p>
            <a:pPr>
              <a:spcAft>
                <a:spcPts val="1000"/>
              </a:spcAft>
              <a:defRPr sz="2000">
                <a:solidFill>
                  <a:srgbClr val="00B4D8"/>
                </a:solidFill>
              </a:defRPr>
            </a:pPr>
            <a:r>
              <a:t>→  Score · Summary · Insights — 4 boyutlu influencer analizi</a:t>
            </a:r>
          </a:p>
          <a:p>
            <a:pPr>
              <a:spcAft>
                <a:spcPts val="1000"/>
              </a:spcAft>
              <a:defRPr sz="2000">
                <a:solidFill>
                  <a:srgbClr val="00B4D8"/>
                </a:solidFill>
              </a:defRPr>
            </a:pPr>
            <a:r>
              <a:t>→  influencer-edge-ai.vercel.app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Teşekkürler! Sorular?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